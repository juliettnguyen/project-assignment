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63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74624D-C7EA-507D-E5D8-250303A59A28}" v="54" dt="2026-04-26T09:32:55.333"/>
    <p1510:client id="{DB88642B-4086-F348-A0C7-07D3E97BD78B}" v="106" dt="2026-04-26T07:34:11.5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58"/>
  </p:normalViewPr>
  <p:slideViewPr>
    <p:cSldViewPr snapToGrid="0">
      <p:cViewPr varScale="1">
        <p:scale>
          <a:sx n="120" d="100"/>
          <a:sy n="120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1196B4-B295-48F2-A25A-6410E322DC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3323F49-AD55-41A3-8C89-B9BCC68863FF}">
      <dgm:prSet/>
      <dgm:spPr/>
      <dgm:t>
        <a:bodyPr/>
        <a:lstStyle/>
        <a:p>
          <a:r>
            <a:rPr lang="en-US" dirty="0"/>
            <a:t>Analyze which communities attack or support each other and what characterizes them.</a:t>
          </a:r>
        </a:p>
      </dgm:t>
    </dgm:pt>
    <dgm:pt modelId="{5B5F6149-BA82-42C3-9033-F98488160867}" type="parTrans" cxnId="{A5269C75-04DA-4D68-972F-6F53601A1085}">
      <dgm:prSet/>
      <dgm:spPr/>
      <dgm:t>
        <a:bodyPr/>
        <a:lstStyle/>
        <a:p>
          <a:endParaRPr lang="en-US"/>
        </a:p>
      </dgm:t>
    </dgm:pt>
    <dgm:pt modelId="{1FE3EF95-4D5B-42DB-B97A-7EAEA5D3517B}" type="sibTrans" cxnId="{A5269C75-04DA-4D68-972F-6F53601A1085}">
      <dgm:prSet/>
      <dgm:spPr/>
      <dgm:t>
        <a:bodyPr/>
        <a:lstStyle/>
        <a:p>
          <a:endParaRPr lang="en-US"/>
        </a:p>
      </dgm:t>
    </dgm:pt>
    <dgm:pt modelId="{70EFCF26-CB34-43C4-A18D-D5C1A3ABDFB2}">
      <dgm:prSet/>
      <dgm:spPr/>
      <dgm:t>
        <a:bodyPr/>
        <a:lstStyle/>
        <a:p>
          <a:r>
            <a:rPr lang="en-US" dirty="0"/>
            <a:t>Can these communities be inferred from just subreddit posts? Do the found communities make sense? Are there similar language patterns within the communities?</a:t>
          </a:r>
        </a:p>
      </dgm:t>
    </dgm:pt>
    <dgm:pt modelId="{0F2A0AB1-4EEF-4C89-A78D-0CB64E85E749}" type="parTrans" cxnId="{3A46F9EC-56E8-4DDB-8009-755F6D043C6F}">
      <dgm:prSet/>
      <dgm:spPr/>
      <dgm:t>
        <a:bodyPr/>
        <a:lstStyle/>
        <a:p>
          <a:endParaRPr lang="en-US"/>
        </a:p>
      </dgm:t>
    </dgm:pt>
    <dgm:pt modelId="{08567D3A-1780-4D9F-B10E-2B9A5677941A}" type="sibTrans" cxnId="{3A46F9EC-56E8-4DDB-8009-755F6D043C6F}">
      <dgm:prSet/>
      <dgm:spPr/>
      <dgm:t>
        <a:bodyPr/>
        <a:lstStyle/>
        <a:p>
          <a:endParaRPr lang="en-US"/>
        </a:p>
      </dgm:t>
    </dgm:pt>
    <dgm:pt modelId="{D8F686A7-6957-495A-9F78-44DDED014CE5}" type="pres">
      <dgm:prSet presAssocID="{CB1196B4-B295-48F2-A25A-6410E322DC4E}" presName="root" presStyleCnt="0">
        <dgm:presLayoutVars>
          <dgm:dir/>
          <dgm:resizeHandles val="exact"/>
        </dgm:presLayoutVars>
      </dgm:prSet>
      <dgm:spPr/>
    </dgm:pt>
    <dgm:pt modelId="{4C57004A-2DC0-4690-ABB2-82CDC8EEAA79}" type="pres">
      <dgm:prSet presAssocID="{C3323F49-AD55-41A3-8C89-B9BCC68863FF}" presName="compNode" presStyleCnt="0"/>
      <dgm:spPr/>
    </dgm:pt>
    <dgm:pt modelId="{3626E807-2F19-4C1F-83AE-103D57D4E2BD}" type="pres">
      <dgm:prSet presAssocID="{C3323F49-AD55-41A3-8C89-B9BCC68863FF}" presName="bgRect" presStyleLbl="bgShp" presStyleIdx="0" presStyleCnt="2"/>
      <dgm:spPr/>
    </dgm:pt>
    <dgm:pt modelId="{9FFB8513-DDDA-4098-8919-4D1BCA9B4E6E}" type="pres">
      <dgm:prSet presAssocID="{C3323F49-AD55-41A3-8C89-B9BCC68863FF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pære med massiv udfyldning"/>
        </a:ext>
      </dgm:extLst>
    </dgm:pt>
    <dgm:pt modelId="{B088E314-2974-4B2C-BBFA-71CABCAC3EF1}" type="pres">
      <dgm:prSet presAssocID="{C3323F49-AD55-41A3-8C89-B9BCC68863FF}" presName="spaceRect" presStyleCnt="0"/>
      <dgm:spPr/>
    </dgm:pt>
    <dgm:pt modelId="{95DD52AA-200C-49C6-BCA1-FAFC6755252A}" type="pres">
      <dgm:prSet presAssocID="{C3323F49-AD55-41A3-8C89-B9BCC68863FF}" presName="parTx" presStyleLbl="revTx" presStyleIdx="0" presStyleCnt="2">
        <dgm:presLayoutVars>
          <dgm:chMax val="0"/>
          <dgm:chPref val="0"/>
        </dgm:presLayoutVars>
      </dgm:prSet>
      <dgm:spPr/>
    </dgm:pt>
    <dgm:pt modelId="{D0495314-81B1-486F-9DFD-404BC5E803CB}" type="pres">
      <dgm:prSet presAssocID="{1FE3EF95-4D5B-42DB-B97A-7EAEA5D3517B}" presName="sibTrans" presStyleCnt="0"/>
      <dgm:spPr/>
    </dgm:pt>
    <dgm:pt modelId="{C7A2BCA6-C1A7-4B0C-8626-63789F0C69DA}" type="pres">
      <dgm:prSet presAssocID="{70EFCF26-CB34-43C4-A18D-D5C1A3ABDFB2}" presName="compNode" presStyleCnt="0"/>
      <dgm:spPr/>
    </dgm:pt>
    <dgm:pt modelId="{698A6A3C-C0DA-4D65-9704-C7FB126F4A2C}" type="pres">
      <dgm:prSet presAssocID="{70EFCF26-CB34-43C4-A18D-D5C1A3ABDFB2}" presName="bgRect" presStyleLbl="bgShp" presStyleIdx="1" presStyleCnt="2" custScaleX="99310" custScaleY="151509"/>
      <dgm:spPr/>
    </dgm:pt>
    <dgm:pt modelId="{C34D67E9-9D79-42DE-8E9B-258016C0EDD1}" type="pres">
      <dgm:prSet presAssocID="{70EFCF26-CB34-43C4-A18D-D5C1A3ABDFB2}" presName="iconRect" presStyleLbl="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størrelsesglas med massiv udfyldning"/>
        </a:ext>
      </dgm:extLst>
    </dgm:pt>
    <dgm:pt modelId="{68CF3A9D-F0D8-4C16-A492-17BFA08B0EEE}" type="pres">
      <dgm:prSet presAssocID="{70EFCF26-CB34-43C4-A18D-D5C1A3ABDFB2}" presName="spaceRect" presStyleCnt="0"/>
      <dgm:spPr/>
    </dgm:pt>
    <dgm:pt modelId="{E031F35B-B58A-452F-833E-B4F01EA4DEBC}" type="pres">
      <dgm:prSet presAssocID="{70EFCF26-CB34-43C4-A18D-D5C1A3ABDFB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0220642-333D-40EE-BFC0-C53C9FBBAA76}" type="presOf" srcId="{70EFCF26-CB34-43C4-A18D-D5C1A3ABDFB2}" destId="{E031F35B-B58A-452F-833E-B4F01EA4DEBC}" srcOrd="0" destOrd="0" presId="urn:microsoft.com/office/officeart/2018/2/layout/IconVerticalSolidList"/>
    <dgm:cxn modelId="{4088674E-1274-4B2C-8BE8-4DEFF7F80874}" type="presOf" srcId="{C3323F49-AD55-41A3-8C89-B9BCC68863FF}" destId="{95DD52AA-200C-49C6-BCA1-FAFC6755252A}" srcOrd="0" destOrd="0" presId="urn:microsoft.com/office/officeart/2018/2/layout/IconVerticalSolidList"/>
    <dgm:cxn modelId="{A5269C75-04DA-4D68-972F-6F53601A1085}" srcId="{CB1196B4-B295-48F2-A25A-6410E322DC4E}" destId="{C3323F49-AD55-41A3-8C89-B9BCC68863FF}" srcOrd="0" destOrd="0" parTransId="{5B5F6149-BA82-42C3-9033-F98488160867}" sibTransId="{1FE3EF95-4D5B-42DB-B97A-7EAEA5D3517B}"/>
    <dgm:cxn modelId="{3188F079-7DAC-4705-BEA0-9CB994095D8D}" type="presOf" srcId="{CB1196B4-B295-48F2-A25A-6410E322DC4E}" destId="{D8F686A7-6957-495A-9F78-44DDED014CE5}" srcOrd="0" destOrd="0" presId="urn:microsoft.com/office/officeart/2018/2/layout/IconVerticalSolidList"/>
    <dgm:cxn modelId="{3A46F9EC-56E8-4DDB-8009-755F6D043C6F}" srcId="{CB1196B4-B295-48F2-A25A-6410E322DC4E}" destId="{70EFCF26-CB34-43C4-A18D-D5C1A3ABDFB2}" srcOrd="1" destOrd="0" parTransId="{0F2A0AB1-4EEF-4C89-A78D-0CB64E85E749}" sibTransId="{08567D3A-1780-4D9F-B10E-2B9A5677941A}"/>
    <dgm:cxn modelId="{48EA5C60-C885-43D8-9127-7838A88B603B}" type="presParOf" srcId="{D8F686A7-6957-495A-9F78-44DDED014CE5}" destId="{4C57004A-2DC0-4690-ABB2-82CDC8EEAA79}" srcOrd="0" destOrd="0" presId="urn:microsoft.com/office/officeart/2018/2/layout/IconVerticalSolidList"/>
    <dgm:cxn modelId="{54DB4949-7233-4ACF-A75C-A784D1006D80}" type="presParOf" srcId="{4C57004A-2DC0-4690-ABB2-82CDC8EEAA79}" destId="{3626E807-2F19-4C1F-83AE-103D57D4E2BD}" srcOrd="0" destOrd="0" presId="urn:microsoft.com/office/officeart/2018/2/layout/IconVerticalSolidList"/>
    <dgm:cxn modelId="{9D529271-85C8-46C1-94C0-02D71106E9AD}" type="presParOf" srcId="{4C57004A-2DC0-4690-ABB2-82CDC8EEAA79}" destId="{9FFB8513-DDDA-4098-8919-4D1BCA9B4E6E}" srcOrd="1" destOrd="0" presId="urn:microsoft.com/office/officeart/2018/2/layout/IconVerticalSolidList"/>
    <dgm:cxn modelId="{55634113-A75D-4F0B-8098-F1463B5CFA8C}" type="presParOf" srcId="{4C57004A-2DC0-4690-ABB2-82CDC8EEAA79}" destId="{B088E314-2974-4B2C-BBFA-71CABCAC3EF1}" srcOrd="2" destOrd="0" presId="urn:microsoft.com/office/officeart/2018/2/layout/IconVerticalSolidList"/>
    <dgm:cxn modelId="{53CE1045-4025-43EF-A19D-A124B2A3636E}" type="presParOf" srcId="{4C57004A-2DC0-4690-ABB2-82CDC8EEAA79}" destId="{95DD52AA-200C-49C6-BCA1-FAFC6755252A}" srcOrd="3" destOrd="0" presId="urn:microsoft.com/office/officeart/2018/2/layout/IconVerticalSolidList"/>
    <dgm:cxn modelId="{80AD5CEB-1DB3-42EE-B551-5A8EB63F6CA9}" type="presParOf" srcId="{D8F686A7-6957-495A-9F78-44DDED014CE5}" destId="{D0495314-81B1-486F-9DFD-404BC5E803CB}" srcOrd="1" destOrd="0" presId="urn:microsoft.com/office/officeart/2018/2/layout/IconVerticalSolidList"/>
    <dgm:cxn modelId="{091D5B6B-93F4-4772-B419-FEB603F3D6ED}" type="presParOf" srcId="{D8F686A7-6957-495A-9F78-44DDED014CE5}" destId="{C7A2BCA6-C1A7-4B0C-8626-63789F0C69DA}" srcOrd="2" destOrd="0" presId="urn:microsoft.com/office/officeart/2018/2/layout/IconVerticalSolidList"/>
    <dgm:cxn modelId="{687235AC-7CDF-4947-BF0E-D8DE10F80628}" type="presParOf" srcId="{C7A2BCA6-C1A7-4B0C-8626-63789F0C69DA}" destId="{698A6A3C-C0DA-4D65-9704-C7FB126F4A2C}" srcOrd="0" destOrd="0" presId="urn:microsoft.com/office/officeart/2018/2/layout/IconVerticalSolidList"/>
    <dgm:cxn modelId="{58640409-2120-4B86-A3E8-6664525EF7C8}" type="presParOf" srcId="{C7A2BCA6-C1A7-4B0C-8626-63789F0C69DA}" destId="{C34D67E9-9D79-42DE-8E9B-258016C0EDD1}" srcOrd="1" destOrd="0" presId="urn:microsoft.com/office/officeart/2018/2/layout/IconVerticalSolidList"/>
    <dgm:cxn modelId="{A05BFAF4-55B0-47B3-BB1F-7488A91EE678}" type="presParOf" srcId="{C7A2BCA6-C1A7-4B0C-8626-63789F0C69DA}" destId="{68CF3A9D-F0D8-4C16-A492-17BFA08B0EEE}" srcOrd="2" destOrd="0" presId="urn:microsoft.com/office/officeart/2018/2/layout/IconVerticalSolidList"/>
    <dgm:cxn modelId="{0AA209A2-4123-4742-AF5C-E2F1BCF074C6}" type="presParOf" srcId="{C7A2BCA6-C1A7-4B0C-8626-63789F0C69DA}" destId="{E031F35B-B58A-452F-833E-B4F01EA4DEB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CBD570-8263-40FB-BEE1-6B3F60C75E2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99E8F5D-9560-49BA-999E-18AF7BD5B5F2}">
      <dgm:prSet/>
      <dgm:spPr/>
      <dgm:t>
        <a:bodyPr/>
        <a:lstStyle/>
        <a:p>
          <a:r>
            <a:rPr lang="en-US" dirty="0"/>
            <a:t>Analyze positive and negative communities in the reddit hyperlink network including in/out degree analysis and graph-visualizations. </a:t>
          </a:r>
        </a:p>
      </dgm:t>
    </dgm:pt>
    <dgm:pt modelId="{AF0D718D-8528-4D09-B5A1-BA24B3D27073}" type="parTrans" cxnId="{8FE52003-0C4D-4A80-9950-611FB685FF57}">
      <dgm:prSet/>
      <dgm:spPr/>
      <dgm:t>
        <a:bodyPr/>
        <a:lstStyle/>
        <a:p>
          <a:endParaRPr lang="en-US"/>
        </a:p>
      </dgm:t>
    </dgm:pt>
    <dgm:pt modelId="{CA84CE3F-28CA-4878-9BA8-2EB15AB53C59}" type="sibTrans" cxnId="{8FE52003-0C4D-4A80-9950-611FB685FF57}">
      <dgm:prSet/>
      <dgm:spPr/>
      <dgm:t>
        <a:bodyPr/>
        <a:lstStyle/>
        <a:p>
          <a:endParaRPr lang="en-US"/>
        </a:p>
      </dgm:t>
    </dgm:pt>
    <dgm:pt modelId="{5F8EB3B5-52C5-416E-81AA-0E3E7E690568}">
      <dgm:prSet/>
      <dgm:spPr/>
      <dgm:t>
        <a:bodyPr/>
        <a:lstStyle/>
        <a:p>
          <a:r>
            <a:rPr lang="en-US"/>
            <a:t>Analyze whether the topics/language are similar/different between positive and negative communities</a:t>
          </a:r>
        </a:p>
      </dgm:t>
    </dgm:pt>
    <dgm:pt modelId="{5ED8E102-7C2F-43DA-948C-9A4227E3A591}" type="parTrans" cxnId="{1E3922CC-04CB-409F-9417-23E3574E38A2}">
      <dgm:prSet/>
      <dgm:spPr/>
      <dgm:t>
        <a:bodyPr/>
        <a:lstStyle/>
        <a:p>
          <a:endParaRPr lang="en-US"/>
        </a:p>
      </dgm:t>
    </dgm:pt>
    <dgm:pt modelId="{620F40E2-47FD-4199-9288-D91010AFF829}" type="sibTrans" cxnId="{1E3922CC-04CB-409F-9417-23E3574E38A2}">
      <dgm:prSet/>
      <dgm:spPr/>
      <dgm:t>
        <a:bodyPr/>
        <a:lstStyle/>
        <a:p>
          <a:endParaRPr lang="en-US"/>
        </a:p>
      </dgm:t>
    </dgm:pt>
    <dgm:pt modelId="{1244BFAC-3EB5-5244-B0FA-333BF9F6642F}" type="pres">
      <dgm:prSet presAssocID="{44CBD570-8263-40FB-BEE1-6B3F60C75E25}" presName="vert0" presStyleCnt="0">
        <dgm:presLayoutVars>
          <dgm:dir/>
          <dgm:animOne val="branch"/>
          <dgm:animLvl val="lvl"/>
        </dgm:presLayoutVars>
      </dgm:prSet>
      <dgm:spPr/>
    </dgm:pt>
    <dgm:pt modelId="{1F3B9CE5-5FA4-9A4C-A7A3-93B3CAAF5AB8}" type="pres">
      <dgm:prSet presAssocID="{999E8F5D-9560-49BA-999E-18AF7BD5B5F2}" presName="thickLine" presStyleLbl="alignNode1" presStyleIdx="0" presStyleCnt="2"/>
      <dgm:spPr/>
    </dgm:pt>
    <dgm:pt modelId="{661A7264-54D7-0B4C-83BD-30CA339C2A54}" type="pres">
      <dgm:prSet presAssocID="{999E8F5D-9560-49BA-999E-18AF7BD5B5F2}" presName="horz1" presStyleCnt="0"/>
      <dgm:spPr/>
    </dgm:pt>
    <dgm:pt modelId="{E7086CC7-5115-DE4C-ABC7-59189B492149}" type="pres">
      <dgm:prSet presAssocID="{999E8F5D-9560-49BA-999E-18AF7BD5B5F2}" presName="tx1" presStyleLbl="revTx" presStyleIdx="0" presStyleCnt="2"/>
      <dgm:spPr/>
    </dgm:pt>
    <dgm:pt modelId="{9721A16C-F2D6-4F47-8251-810E8E921637}" type="pres">
      <dgm:prSet presAssocID="{999E8F5D-9560-49BA-999E-18AF7BD5B5F2}" presName="vert1" presStyleCnt="0"/>
      <dgm:spPr/>
    </dgm:pt>
    <dgm:pt modelId="{A1F5C4D5-8909-1A46-A8C5-99F6D79F7413}" type="pres">
      <dgm:prSet presAssocID="{5F8EB3B5-52C5-416E-81AA-0E3E7E690568}" presName="thickLine" presStyleLbl="alignNode1" presStyleIdx="1" presStyleCnt="2"/>
      <dgm:spPr/>
    </dgm:pt>
    <dgm:pt modelId="{122DE754-BB2B-D74C-A76A-806ACAED5161}" type="pres">
      <dgm:prSet presAssocID="{5F8EB3B5-52C5-416E-81AA-0E3E7E690568}" presName="horz1" presStyleCnt="0"/>
      <dgm:spPr/>
    </dgm:pt>
    <dgm:pt modelId="{6A1CEA79-FA12-EC4E-85C5-9598ABFD662E}" type="pres">
      <dgm:prSet presAssocID="{5F8EB3B5-52C5-416E-81AA-0E3E7E690568}" presName="tx1" presStyleLbl="revTx" presStyleIdx="1" presStyleCnt="2"/>
      <dgm:spPr/>
    </dgm:pt>
    <dgm:pt modelId="{104948DC-064B-6644-8212-78998FEB34FE}" type="pres">
      <dgm:prSet presAssocID="{5F8EB3B5-52C5-416E-81AA-0E3E7E690568}" presName="vert1" presStyleCnt="0"/>
      <dgm:spPr/>
    </dgm:pt>
  </dgm:ptLst>
  <dgm:cxnLst>
    <dgm:cxn modelId="{8FE52003-0C4D-4A80-9950-611FB685FF57}" srcId="{44CBD570-8263-40FB-BEE1-6B3F60C75E25}" destId="{999E8F5D-9560-49BA-999E-18AF7BD5B5F2}" srcOrd="0" destOrd="0" parTransId="{AF0D718D-8528-4D09-B5A1-BA24B3D27073}" sibTransId="{CA84CE3F-28CA-4878-9BA8-2EB15AB53C59}"/>
    <dgm:cxn modelId="{E4AC6DBD-7991-A649-8820-B9095D4EC378}" type="presOf" srcId="{5F8EB3B5-52C5-416E-81AA-0E3E7E690568}" destId="{6A1CEA79-FA12-EC4E-85C5-9598ABFD662E}" srcOrd="0" destOrd="0" presId="urn:microsoft.com/office/officeart/2008/layout/LinedList"/>
    <dgm:cxn modelId="{E13037C3-40BA-EA41-9094-0621D6389E4A}" type="presOf" srcId="{44CBD570-8263-40FB-BEE1-6B3F60C75E25}" destId="{1244BFAC-3EB5-5244-B0FA-333BF9F6642F}" srcOrd="0" destOrd="0" presId="urn:microsoft.com/office/officeart/2008/layout/LinedList"/>
    <dgm:cxn modelId="{FC33CEC8-E741-9F48-84B9-294B791CE2D1}" type="presOf" srcId="{999E8F5D-9560-49BA-999E-18AF7BD5B5F2}" destId="{E7086CC7-5115-DE4C-ABC7-59189B492149}" srcOrd="0" destOrd="0" presId="urn:microsoft.com/office/officeart/2008/layout/LinedList"/>
    <dgm:cxn modelId="{1E3922CC-04CB-409F-9417-23E3574E38A2}" srcId="{44CBD570-8263-40FB-BEE1-6B3F60C75E25}" destId="{5F8EB3B5-52C5-416E-81AA-0E3E7E690568}" srcOrd="1" destOrd="0" parTransId="{5ED8E102-7C2F-43DA-948C-9A4227E3A591}" sibTransId="{620F40E2-47FD-4199-9288-D91010AFF829}"/>
    <dgm:cxn modelId="{36739ADC-5FE7-114D-A47E-DFDC7293277D}" type="presParOf" srcId="{1244BFAC-3EB5-5244-B0FA-333BF9F6642F}" destId="{1F3B9CE5-5FA4-9A4C-A7A3-93B3CAAF5AB8}" srcOrd="0" destOrd="0" presId="urn:microsoft.com/office/officeart/2008/layout/LinedList"/>
    <dgm:cxn modelId="{D1E46E53-2EB7-7A45-9925-B8747168B673}" type="presParOf" srcId="{1244BFAC-3EB5-5244-B0FA-333BF9F6642F}" destId="{661A7264-54D7-0B4C-83BD-30CA339C2A54}" srcOrd="1" destOrd="0" presId="urn:microsoft.com/office/officeart/2008/layout/LinedList"/>
    <dgm:cxn modelId="{33AC7B33-9E23-CC41-9183-156A93F4240C}" type="presParOf" srcId="{661A7264-54D7-0B4C-83BD-30CA339C2A54}" destId="{E7086CC7-5115-DE4C-ABC7-59189B492149}" srcOrd="0" destOrd="0" presId="urn:microsoft.com/office/officeart/2008/layout/LinedList"/>
    <dgm:cxn modelId="{AD4AF5DC-1625-014B-A1F8-B104C39DC0C7}" type="presParOf" srcId="{661A7264-54D7-0B4C-83BD-30CA339C2A54}" destId="{9721A16C-F2D6-4F47-8251-810E8E921637}" srcOrd="1" destOrd="0" presId="urn:microsoft.com/office/officeart/2008/layout/LinedList"/>
    <dgm:cxn modelId="{1D6B2764-FC21-384F-96D6-E099A51CD86C}" type="presParOf" srcId="{1244BFAC-3EB5-5244-B0FA-333BF9F6642F}" destId="{A1F5C4D5-8909-1A46-A8C5-99F6D79F7413}" srcOrd="2" destOrd="0" presId="urn:microsoft.com/office/officeart/2008/layout/LinedList"/>
    <dgm:cxn modelId="{4AAF39D5-2A88-7941-9A12-F31A652DDF12}" type="presParOf" srcId="{1244BFAC-3EB5-5244-B0FA-333BF9F6642F}" destId="{122DE754-BB2B-D74C-A76A-806ACAED5161}" srcOrd="3" destOrd="0" presId="urn:microsoft.com/office/officeart/2008/layout/LinedList"/>
    <dgm:cxn modelId="{74CE6642-05B2-1C45-AED6-9F366D9D8FF3}" type="presParOf" srcId="{122DE754-BB2B-D74C-A76A-806ACAED5161}" destId="{6A1CEA79-FA12-EC4E-85C5-9598ABFD662E}" srcOrd="0" destOrd="0" presId="urn:microsoft.com/office/officeart/2008/layout/LinedList"/>
    <dgm:cxn modelId="{0D842804-5D93-014B-B2F0-251F6185B471}" type="presParOf" srcId="{122DE754-BB2B-D74C-A76A-806ACAED5161}" destId="{104948DC-064B-6644-8212-78998FEB34F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6E807-2F19-4C1F-83AE-103D57D4E2BD}">
      <dsp:nvSpPr>
        <dsp:cNvPr id="0" name=""/>
        <dsp:cNvSpPr/>
      </dsp:nvSpPr>
      <dsp:spPr>
        <a:xfrm>
          <a:off x="0" y="371420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FB8513-DDDA-4098-8919-4D1BCA9B4E6E}">
      <dsp:nvSpPr>
        <dsp:cNvPr id="0" name=""/>
        <dsp:cNvSpPr/>
      </dsp:nvSpPr>
      <dsp:spPr>
        <a:xfrm>
          <a:off x="395445" y="665552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D52AA-200C-49C6-BCA1-FAFC6755252A}">
      <dsp:nvSpPr>
        <dsp:cNvPr id="0" name=""/>
        <dsp:cNvSpPr/>
      </dsp:nvSpPr>
      <dsp:spPr>
        <a:xfrm>
          <a:off x="1509882" y="371420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Analyze which communities attack or support each other and what characterizes them.</a:t>
          </a:r>
        </a:p>
      </dsp:txBody>
      <dsp:txXfrm>
        <a:off x="1509882" y="371420"/>
        <a:ext cx="9005717" cy="1307257"/>
      </dsp:txXfrm>
    </dsp:sp>
    <dsp:sp modelId="{698A6A3C-C0DA-4D65-9704-C7FB126F4A2C}">
      <dsp:nvSpPr>
        <dsp:cNvPr id="0" name=""/>
        <dsp:cNvSpPr/>
      </dsp:nvSpPr>
      <dsp:spPr>
        <a:xfrm>
          <a:off x="0" y="2005491"/>
          <a:ext cx="10443042" cy="19806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D67E9-9D79-42DE-8E9B-258016C0EDD1}">
      <dsp:nvSpPr>
        <dsp:cNvPr id="0" name=""/>
        <dsp:cNvSpPr/>
      </dsp:nvSpPr>
      <dsp:spPr>
        <a:xfrm>
          <a:off x="359166" y="2636302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1F35B-B58A-452F-833E-B4F01EA4DEBC}">
      <dsp:nvSpPr>
        <dsp:cNvPr id="0" name=""/>
        <dsp:cNvSpPr/>
      </dsp:nvSpPr>
      <dsp:spPr>
        <a:xfrm>
          <a:off x="1473603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Can these communities be inferred from just subreddit posts? Do the found communities make sense? Are there similar language patterns within the communities?</a:t>
          </a:r>
        </a:p>
      </dsp:txBody>
      <dsp:txXfrm>
        <a:off x="1473603" y="2342169"/>
        <a:ext cx="9005717" cy="13072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3B9CE5-5FA4-9A4C-A7A3-93B3CAAF5AB8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86CC7-5115-DE4C-ABC7-59189B492149}">
      <dsp:nvSpPr>
        <dsp:cNvPr id="0" name=""/>
        <dsp:cNvSpPr/>
      </dsp:nvSpPr>
      <dsp:spPr>
        <a:xfrm>
          <a:off x="0" y="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Analyze positive and negative communities in the reddit hyperlink network including in/out degree analysis and graph-visualizations. </a:t>
          </a:r>
        </a:p>
      </dsp:txBody>
      <dsp:txXfrm>
        <a:off x="0" y="0"/>
        <a:ext cx="6900512" cy="2768070"/>
      </dsp:txXfrm>
    </dsp:sp>
    <dsp:sp modelId="{A1F5C4D5-8909-1A46-A8C5-99F6D79F7413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1CEA79-FA12-EC4E-85C5-9598ABFD662E}">
      <dsp:nvSpPr>
        <dsp:cNvPr id="0" name=""/>
        <dsp:cNvSpPr/>
      </dsp:nvSpPr>
      <dsp:spPr>
        <a:xfrm>
          <a:off x="0" y="276807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Analyze whether the topics/language are similar/different between positive and negative communities</a:t>
          </a:r>
        </a:p>
      </dsp:txBody>
      <dsp:txXfrm>
        <a:off x="0" y="2768070"/>
        <a:ext cx="6900512" cy="2768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EE156-F633-894C-B7B1-412C9C047A51}" type="datetimeFigureOut">
              <a:rPr lang="da-DK" smtClean="0"/>
              <a:t>27-04-2026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4B3B-9AA1-0045-B093-91CC0502B96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190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Make a network with only positive links and a network with only negative links.</a:t>
            </a:r>
          </a:p>
          <a:p>
            <a:pPr lvl="1"/>
            <a:r>
              <a:rPr lang="en-US">
                <a:ea typeface="+mn-lt"/>
                <a:cs typeface="+mn-lt"/>
              </a:rPr>
              <a:t>Use the amount of positive or negative links between each subreddit as edge weighting.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Identify communities of subreddits in the positive network using network community detection.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Examine the degree distribution in the negative network:</a:t>
            </a:r>
          </a:p>
          <a:p>
            <a:pPr lvl="1"/>
            <a:r>
              <a:rPr lang="en-US">
                <a:ea typeface="+mn-lt"/>
                <a:cs typeface="+mn-lt"/>
              </a:rPr>
              <a:t>Do specific subreddits have a high out-degree (they hate a lot) or a high in-degree (they get hated a lot)?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For a specific community (maybe biggest connected?):</a:t>
            </a:r>
          </a:p>
          <a:p>
            <a:pPr lvl="1"/>
            <a:r>
              <a:rPr lang="en-US">
                <a:ea typeface="+mn-lt"/>
                <a:cs typeface="+mn-lt"/>
              </a:rPr>
              <a:t>Extract topics and analyze keywords using TF-IDF.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Examine language and sentiment patterns in positive versus negative links.</a:t>
            </a:r>
            <a:endParaRPr lang="en-US"/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Maybe analyze the networks over time (since the network contains the </a:t>
            </a:r>
            <a:r>
              <a:rPr lang="en-US" err="1">
                <a:ea typeface="+mn-lt"/>
                <a:cs typeface="+mn-lt"/>
              </a:rPr>
              <a:t>time_stamps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44B3B-9AA1-0045-B093-91CC0502B961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66294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6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7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14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6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49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4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1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32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0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93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E9C44-9DAE-47EA-BF7B-527501938C3F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FC2E3-A69C-4D5E-9D0D-9F10D106B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6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  <a:ea typeface="+mj-lt"/>
                <a:cs typeface="+mj-lt"/>
              </a:rPr>
              <a:t>Subreddit Hyperlink Network Analysis</a:t>
            </a:r>
            <a:endParaRPr lang="en-US" sz="8000" dirty="0">
              <a:solidFill>
                <a:srgbClr val="FFFFFF"/>
              </a:solidFill>
            </a:endParaRP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CSS Final Project – by Elisabeth, Julie and William</a:t>
            </a:r>
          </a:p>
        </p:txBody>
      </p:sp>
      <p:sp>
        <p:nvSpPr>
          <p:cNvPr id="1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942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2CB0D-93BD-E34A-10A4-025622C7E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The central idea and why is this interesting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5C4C934-FE3A-8CFC-DC86-03C2107358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05577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2397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F81AB8-1814-2274-054E-D061E9AC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86" y="57239"/>
            <a:ext cx="11865707" cy="1430221"/>
          </a:xfrm>
        </p:spPr>
        <p:txBody>
          <a:bodyPr>
            <a:normAutofit fontScale="90000"/>
          </a:bodyPr>
          <a:lstStyle/>
          <a:p>
            <a:r>
              <a:rPr lang="en-US" dirty="0"/>
              <a:t>We explore our idea by combining the Reddit Hyperlink Network and the reddit subreddits dataset</a:t>
            </a:r>
            <a:endParaRPr lang="da-DK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BA2188D-FA77-2163-85C9-A347ED77B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88" y="1411272"/>
            <a:ext cx="5157787" cy="823912"/>
          </a:xfrm>
        </p:spPr>
        <p:txBody>
          <a:bodyPr>
            <a:normAutofit fontScale="92500"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Reddit Hyperlink Network</a:t>
            </a:r>
            <a:endParaRPr lang="da-DK" sz="3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4230A5A-EE03-AF1F-9C9D-D16664C0EEA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173751" y="1628562"/>
            <a:ext cx="6183013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3300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Reddit </a:t>
            </a:r>
            <a:r>
              <a:rPr lang="da-DK" altLang="da-DK" sz="3300" dirty="0" err="1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subreddits</a:t>
            </a:r>
            <a:r>
              <a:rPr lang="da-DK" altLang="da-DK" sz="3300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 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Pladsholder til indhold 18">
            <a:extLst>
              <a:ext uri="{FF2B5EF4-FFF2-40B4-BE49-F238E27FC236}">
                <a16:creationId xmlns:a16="http://schemas.microsoft.com/office/drawing/2014/main" id="{75825EF1-538F-840E-5ECA-84DEB15CA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755" y="2355657"/>
            <a:ext cx="5756406" cy="37872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a-DK" sz="1800" dirty="0" err="1"/>
              <a:t>Contains</a:t>
            </a:r>
            <a:r>
              <a:rPr lang="da-DK" sz="1800" dirty="0"/>
              <a:t> 4 .</a:t>
            </a:r>
            <a:r>
              <a:rPr lang="da-DK" sz="1800" dirty="0" err="1"/>
              <a:t>zst</a:t>
            </a:r>
            <a:r>
              <a:rPr lang="da-DK" sz="1800" dirty="0"/>
              <a:t> files </a:t>
            </a:r>
            <a:r>
              <a:rPr lang="da-DK" sz="1800" dirty="0" err="1"/>
              <a:t>about</a:t>
            </a:r>
            <a:r>
              <a:rPr lang="da-DK" sz="1800" dirty="0"/>
              <a:t> 22 million </a:t>
            </a:r>
            <a:r>
              <a:rPr lang="da-DK" sz="1800" dirty="0" err="1"/>
              <a:t>subreddits</a:t>
            </a:r>
            <a:r>
              <a:rPr lang="da-DK" sz="1800" dirty="0"/>
              <a:t> in </a:t>
            </a:r>
            <a:r>
              <a:rPr lang="da-DK" sz="1800" dirty="0" err="1"/>
              <a:t>January</a:t>
            </a:r>
            <a:r>
              <a:rPr lang="da-DK" sz="1800" dirty="0"/>
              <a:t> 2025</a:t>
            </a:r>
          </a:p>
          <a:p>
            <a:r>
              <a:rPr lang="da-DK" sz="1800" dirty="0" err="1"/>
              <a:t>Subreddit</a:t>
            </a:r>
            <a:r>
              <a:rPr lang="da-DK" sz="1800" dirty="0"/>
              <a:t> </a:t>
            </a:r>
            <a:r>
              <a:rPr lang="da-DK" sz="1800" dirty="0" err="1"/>
              <a:t>meta</a:t>
            </a:r>
            <a:r>
              <a:rPr lang="da-DK" sz="1800" dirty="0"/>
              <a:t> data: 33 mb</a:t>
            </a:r>
          </a:p>
          <a:p>
            <a:r>
              <a:rPr lang="da-DK" sz="1800" dirty="0" err="1"/>
              <a:t>Subreddit_rules</a:t>
            </a:r>
            <a:r>
              <a:rPr lang="da-DK" sz="1800" dirty="0"/>
              <a:t>: 67 mb</a:t>
            </a:r>
          </a:p>
          <a:p>
            <a:r>
              <a:rPr lang="da-DK" sz="1800" dirty="0" err="1"/>
              <a:t>Subreddit</a:t>
            </a:r>
            <a:r>
              <a:rPr lang="da-DK" sz="1800" dirty="0"/>
              <a:t> wiki pages: 308 mb</a:t>
            </a:r>
          </a:p>
          <a:p>
            <a:r>
              <a:rPr lang="da-DK" sz="1800" dirty="0" err="1"/>
              <a:t>Subreddit</a:t>
            </a:r>
            <a:r>
              <a:rPr lang="da-DK" sz="1800" dirty="0"/>
              <a:t> </a:t>
            </a:r>
            <a:r>
              <a:rPr lang="da-DK" sz="1800" dirty="0" err="1"/>
              <a:t>about</a:t>
            </a:r>
            <a:r>
              <a:rPr lang="da-DK" sz="1800" dirty="0"/>
              <a:t> pages and metadata: 2,24 gb</a:t>
            </a:r>
          </a:p>
          <a:p>
            <a:pPr marL="0" indent="0">
              <a:buNone/>
            </a:pPr>
            <a:r>
              <a:rPr lang="da-DK" sz="1800" dirty="0"/>
              <a:t>From </a:t>
            </a:r>
            <a:r>
              <a:rPr lang="da-DK" sz="1800" dirty="0" err="1"/>
              <a:t>academic</a:t>
            </a:r>
            <a:r>
              <a:rPr lang="da-DK" sz="1800" dirty="0"/>
              <a:t> torrent</a:t>
            </a:r>
          </a:p>
          <a:p>
            <a:pPr marL="0" indent="0">
              <a:buNone/>
            </a:pPr>
            <a:endParaRPr lang="da-DK" sz="2000" dirty="0"/>
          </a:p>
        </p:txBody>
      </p:sp>
      <p:sp>
        <p:nvSpPr>
          <p:cNvPr id="20" name="Pladsholder til indhold 19">
            <a:extLst>
              <a:ext uri="{FF2B5EF4-FFF2-40B4-BE49-F238E27FC236}">
                <a16:creationId xmlns:a16="http://schemas.microsoft.com/office/drawing/2014/main" id="{78BC5928-CE74-DA52-88DB-4FC0B98D5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88" y="2505725"/>
            <a:ext cx="5987512" cy="36747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a-DK" sz="1800" dirty="0"/>
              <a:t>Made up of posts </a:t>
            </a:r>
            <a:r>
              <a:rPr lang="da-DK" sz="1800" dirty="0" err="1"/>
              <a:t>that</a:t>
            </a:r>
            <a:r>
              <a:rPr lang="da-DK" sz="1800" dirty="0"/>
              <a:t> </a:t>
            </a:r>
            <a:r>
              <a:rPr lang="da-DK" sz="1800" dirty="0" err="1"/>
              <a:t>contain</a:t>
            </a:r>
            <a:r>
              <a:rPr lang="da-DK" sz="1800" dirty="0"/>
              <a:t> hyperlinks from </a:t>
            </a:r>
            <a:r>
              <a:rPr lang="da-DK" sz="1800" dirty="0" err="1"/>
              <a:t>one</a:t>
            </a:r>
            <a:r>
              <a:rPr lang="da-DK" sz="1800" dirty="0"/>
              <a:t> </a:t>
            </a:r>
            <a:r>
              <a:rPr lang="da-DK" sz="1800" dirty="0" err="1"/>
              <a:t>subreddit</a:t>
            </a:r>
            <a:r>
              <a:rPr lang="da-DK" sz="1800" dirty="0"/>
              <a:t> to </a:t>
            </a:r>
            <a:r>
              <a:rPr lang="da-DK" sz="1800" dirty="0" err="1"/>
              <a:t>another</a:t>
            </a:r>
            <a:endParaRPr lang="da-DK" sz="1800" dirty="0"/>
          </a:p>
          <a:p>
            <a:pPr marL="0" indent="0">
              <a:buNone/>
            </a:pPr>
            <a:r>
              <a:rPr lang="da-DK" sz="1800" dirty="0"/>
              <a:t>Dataformat</a:t>
            </a:r>
          </a:p>
          <a:p>
            <a:r>
              <a:rPr lang="da-DK" sz="1800" dirty="0"/>
              <a:t>Source </a:t>
            </a:r>
            <a:r>
              <a:rPr lang="da-DK" sz="1800" dirty="0" err="1"/>
              <a:t>Subreddit</a:t>
            </a:r>
            <a:endParaRPr lang="da-DK" sz="1800" dirty="0"/>
          </a:p>
          <a:p>
            <a:r>
              <a:rPr lang="da-DK" sz="1800" dirty="0"/>
              <a:t>Target </a:t>
            </a:r>
            <a:r>
              <a:rPr lang="da-DK" sz="1800" dirty="0" err="1"/>
              <a:t>Subreddit</a:t>
            </a:r>
            <a:endParaRPr lang="da-DK" sz="1800" dirty="0"/>
          </a:p>
          <a:p>
            <a:r>
              <a:rPr lang="da-DK" sz="1800" dirty="0" err="1"/>
              <a:t>Post_ID</a:t>
            </a:r>
            <a:endParaRPr lang="da-DK" sz="1800" dirty="0"/>
          </a:p>
          <a:p>
            <a:r>
              <a:rPr lang="da-DK" sz="1800" dirty="0"/>
              <a:t>Timestamp</a:t>
            </a:r>
          </a:p>
          <a:p>
            <a:r>
              <a:rPr lang="da-DK" sz="1800" dirty="0"/>
              <a:t>Post Label: </a:t>
            </a:r>
            <a:r>
              <a:rPr lang="da-DK" sz="1800" dirty="0" err="1"/>
              <a:t>Explicity</a:t>
            </a:r>
            <a:r>
              <a:rPr lang="da-DK" sz="1800" dirty="0"/>
              <a:t> negative/positive </a:t>
            </a:r>
            <a:r>
              <a:rPr lang="da-DK" sz="1800" dirty="0" err="1"/>
              <a:t>toward</a:t>
            </a:r>
            <a:r>
              <a:rPr lang="da-DK" sz="1800" dirty="0"/>
              <a:t> </a:t>
            </a:r>
            <a:r>
              <a:rPr lang="da-DK" sz="1800" dirty="0" err="1"/>
              <a:t>target</a:t>
            </a:r>
            <a:endParaRPr lang="da-DK" sz="1800" dirty="0"/>
          </a:p>
          <a:p>
            <a:r>
              <a:rPr lang="da-DK" sz="1800" dirty="0"/>
              <a:t>Post </a:t>
            </a:r>
            <a:r>
              <a:rPr lang="da-DK" sz="1800" dirty="0" err="1"/>
              <a:t>Proterties</a:t>
            </a:r>
            <a:endParaRPr lang="da-DK" sz="1800" dirty="0"/>
          </a:p>
          <a:p>
            <a:pPr marL="0" indent="0">
              <a:buNone/>
            </a:pPr>
            <a:r>
              <a:rPr lang="da-DK" sz="1800" dirty="0"/>
              <a:t>From </a:t>
            </a:r>
            <a:r>
              <a:rPr lang="da-DK" sz="1800" dirty="0" err="1"/>
              <a:t>Standford</a:t>
            </a:r>
            <a:r>
              <a:rPr lang="da-DK" sz="1800" dirty="0"/>
              <a:t> Large Networks Dataset Collection</a:t>
            </a:r>
          </a:p>
          <a:p>
            <a:endParaRPr lang="da-DK" dirty="0"/>
          </a:p>
          <a:p>
            <a:pPr lvl="1"/>
            <a:endParaRPr lang="da-DK" sz="1800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9BBEBA06-89AD-9FA6-99FE-6EDA5D333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755" y="4805135"/>
            <a:ext cx="5826094" cy="1995626"/>
          </a:xfrm>
          <a:prstGeom prst="rect">
            <a:avLst/>
          </a:prstGeom>
        </p:spPr>
      </p:pic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8205EF53-AD43-359F-C8C4-B44453D401A7}"/>
              </a:ext>
            </a:extLst>
          </p:cNvPr>
          <p:cNvCxnSpPr>
            <a:cxnSpLocks/>
          </p:cNvCxnSpPr>
          <p:nvPr/>
        </p:nvCxnSpPr>
        <p:spPr>
          <a:xfrm>
            <a:off x="5905500" y="1487460"/>
            <a:ext cx="0" cy="53133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928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47F22ED-3A55-4EDE-A5A8-163D82B09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84EE59-3061-456B-9FB5-98A8E0E7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39326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E07B5E-9FB5-4C91-8BE4-6167EB58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39326" y="1410083"/>
            <a:ext cx="6858000" cy="403783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24947-EB09-4DD9-973B-9F75BBCD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26611" y="3576013"/>
            <a:ext cx="2526132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0C8E25-2DD1-45C6-9F04-0F0CBF66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3" y="1396067"/>
            <a:ext cx="6858000" cy="40378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C57EA3C-C239-4132-A618-5CBE9F89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8268" y="982780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F072ED6-24DC-471A-4D3F-C5617ECC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82" y="456345"/>
            <a:ext cx="3111690" cy="35560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How did we download the data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779E796-B80D-13B8-A76D-4E68ED63C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48634" y="1088208"/>
            <a:ext cx="3534770" cy="584846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 dirty="0"/>
          </a:p>
          <a:p>
            <a:r>
              <a:rPr lang="en-US" sz="1900" b="1" dirty="0"/>
              <a:t>Reddit Hyperlink Network download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 dirty="0" err="1"/>
              <a:t>df</a:t>
            </a:r>
            <a:r>
              <a:rPr lang="en-US" sz="1900" dirty="0"/>
              <a:t> = </a:t>
            </a:r>
            <a:r>
              <a:rPr lang="en-US" sz="1900" dirty="0" err="1"/>
              <a:t>pd.read_csv</a:t>
            </a:r>
            <a:r>
              <a:rPr lang="en-US" sz="1900" dirty="0"/>
              <a:t>("../data/soc-</a:t>
            </a:r>
            <a:r>
              <a:rPr lang="en-US" sz="1900" dirty="0" err="1"/>
              <a:t>redditHyperlinks</a:t>
            </a:r>
            <a:r>
              <a:rPr lang="en-US" sz="1900" dirty="0"/>
              <a:t>-</a:t>
            </a:r>
            <a:r>
              <a:rPr lang="en-US" sz="1900" dirty="0" err="1"/>
              <a:t>body.tsv</a:t>
            </a:r>
            <a:r>
              <a:rPr lang="en-US" sz="1900" dirty="0"/>
              <a:t>", </a:t>
            </a:r>
            <a:r>
              <a:rPr lang="en-US" sz="1900" dirty="0" err="1"/>
              <a:t>sep</a:t>
            </a:r>
            <a:r>
              <a:rPr lang="en-US" sz="1900" dirty="0"/>
              <a:t>='\t’)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 dirty="0"/>
              <a:t>Filtered out irrelevant properties</a:t>
            </a:r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da-DK" sz="1900" b="1" dirty="0"/>
              <a:t>Reddit subreddits metadata, rules and wikis 2025-01</a:t>
            </a:r>
            <a:r>
              <a:rPr lang="en-US" altLang="da-DK" sz="1900" dirty="0"/>
              <a:t> download:</a:t>
            </a:r>
          </a:p>
          <a:p>
            <a:pPr marL="285750" lvl="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da-DK" sz="1900" dirty="0"/>
              <a:t>Transmission download kernel</a:t>
            </a:r>
          </a:p>
          <a:p>
            <a:pPr marL="28575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Uploaded to a pandas </a:t>
            </a:r>
            <a:r>
              <a:rPr lang="en-US" sz="1900" dirty="0" err="1"/>
              <a:t>dataframe</a:t>
            </a:r>
            <a:r>
              <a:rPr lang="en-US" sz="1900" dirty="0"/>
              <a:t> using </a:t>
            </a:r>
            <a:r>
              <a:rPr lang="en-US" sz="1900" dirty="0" err="1"/>
              <a:t>zstandard</a:t>
            </a:r>
            <a:r>
              <a:rPr lang="en-US" sz="1900" dirty="0"/>
              <a:t>.</a:t>
            </a:r>
          </a:p>
          <a:p>
            <a:pPr marL="28575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da-DK" sz="1900" dirty="0"/>
              <a:t>Kernel crashing -&gt; buffer</a:t>
            </a:r>
          </a:p>
          <a:p>
            <a:pPr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da-DK" sz="1800" dirty="0"/>
              <a:t>45 MINUTES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pic>
        <p:nvPicPr>
          <p:cNvPr id="8" name="Billede 7" descr="Et billede, der indeholder tekst, skærmbillede, Font/skrifttype, nummer/tal&#10;&#10;AI-genereret indhold kan være ukorrekt.">
            <a:extLst>
              <a:ext uri="{FF2B5EF4-FFF2-40B4-BE49-F238E27FC236}">
                <a16:creationId xmlns:a16="http://schemas.microsoft.com/office/drawing/2014/main" id="{72FF757F-5BC3-B7C8-C63B-B03C85D4B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025" y="1683254"/>
            <a:ext cx="3603386" cy="1102278"/>
          </a:xfrm>
          <a:prstGeom prst="rect">
            <a:avLst/>
          </a:prstGeom>
        </p:spPr>
      </p:pic>
      <p:pic>
        <p:nvPicPr>
          <p:cNvPr id="3" name="Billede 2" descr="Et billede, der indeholder tekst, skærmbillede, display/skærm/fremvisning, software&#10;&#10;AI-genereret indhold kan være ukorrekt.">
            <a:extLst>
              <a:ext uri="{FF2B5EF4-FFF2-40B4-BE49-F238E27FC236}">
                <a16:creationId xmlns:a16="http://schemas.microsoft.com/office/drawing/2014/main" id="{53DEC4E6-5BA7-D5A3-08C8-361D7A44A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545" y="4000613"/>
            <a:ext cx="3632629" cy="1594320"/>
          </a:xfrm>
          <a:prstGeom prst="rect">
            <a:avLst/>
          </a:prstGeom>
        </p:spPr>
      </p:pic>
      <p:pic>
        <p:nvPicPr>
          <p:cNvPr id="6" name="Billede 5" descr="Et billede, der indeholder tekst, skærmbillede, Font/skrifttype, linje/række&#10;&#10;AI-genereret indhold kan være ukorrekt.">
            <a:extLst>
              <a:ext uri="{FF2B5EF4-FFF2-40B4-BE49-F238E27FC236}">
                <a16:creationId xmlns:a16="http://schemas.microsoft.com/office/drawing/2014/main" id="{0CF62762-4BF4-1D8E-851D-18ACD9AF0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404" y="853798"/>
            <a:ext cx="3544911" cy="319360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9C35F937-7A7E-5119-73E4-FE66B4710B16}"/>
              </a:ext>
            </a:extLst>
          </p:cNvPr>
          <p:cNvSpPr txBox="1"/>
          <p:nvPr/>
        </p:nvSpPr>
        <p:spPr>
          <a:xfrm>
            <a:off x="5350770" y="6168552"/>
            <a:ext cx="49892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/>
              <a:t>11 000 subreddits in the union between datasets</a:t>
            </a:r>
          </a:p>
        </p:txBody>
      </p:sp>
    </p:spTree>
    <p:extLst>
      <p:ext uri="{BB962C8B-B14F-4D97-AF65-F5344CB8AC3E}">
        <p14:creationId xmlns:p14="http://schemas.microsoft.com/office/powerpoint/2010/main" val="166871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2E495-6422-AC49-1B49-3BAD49A6D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Goal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A83791-B8F4-0939-9969-0733F879D5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042665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899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B3605-98CA-189D-53C4-9140D6FE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Implementation plan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D2701-29F9-D8A2-917F-90D5168E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824186"/>
            <a:ext cx="10716830" cy="4685547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>
              <a:buNone/>
            </a:pPr>
            <a:endParaRPr lang="en-US" sz="6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4000" b="1">
                <a:ea typeface="+mn-lt"/>
                <a:cs typeface="+mn-lt"/>
              </a:rPr>
              <a:t>Networks setup </a:t>
            </a:r>
          </a:p>
          <a:p>
            <a:pPr marL="0" indent="0">
              <a:buNone/>
            </a:pPr>
            <a:r>
              <a:rPr lang="en-US" sz="4000"/>
              <a:t>1) Link the subreddit description as a node attribute for each subreddit in the network.</a:t>
            </a:r>
            <a:endParaRPr lang="en-US" sz="4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4000">
                <a:ea typeface="+mn-lt"/>
                <a:cs typeface="+mn-lt"/>
              </a:rPr>
              <a:t>2) Make two networks with positive and negative links </a:t>
            </a:r>
          </a:p>
          <a:p>
            <a:pPr marL="0" indent="0">
              <a:buNone/>
            </a:pPr>
            <a:r>
              <a:rPr lang="en-US" sz="4000">
                <a:ea typeface="+mn-lt"/>
                <a:cs typeface="+mn-lt"/>
              </a:rPr>
              <a:t>3) Edge weights equal the number of links between the two subreddits.</a:t>
            </a:r>
          </a:p>
          <a:p>
            <a:pPr marL="0" indent="0">
              <a:buNone/>
            </a:pPr>
            <a:r>
              <a:rPr lang="en-US" sz="4000">
                <a:ea typeface="+mn-lt"/>
                <a:cs typeface="+mn-lt"/>
              </a:rPr>
              <a:t>4) Obtain the largest strongly connected component of each network</a:t>
            </a:r>
          </a:p>
          <a:p>
            <a:pPr marL="0" indent="0">
              <a:buNone/>
            </a:pPr>
            <a:endParaRPr lang="en-US" sz="4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4000" b="1">
                <a:ea typeface="+mn-lt"/>
                <a:cs typeface="+mn-lt"/>
              </a:rPr>
              <a:t>Network analysis</a:t>
            </a:r>
          </a:p>
          <a:p>
            <a:pPr marL="0" indent="0">
              <a:buNone/>
            </a:pPr>
            <a:r>
              <a:rPr lang="en-US" sz="4000">
                <a:ea typeface="+mn-lt"/>
                <a:cs typeface="+mn-lt"/>
              </a:rPr>
              <a:t>5) Identify communities of subreddits using </a:t>
            </a:r>
            <a:r>
              <a:rPr lang="en-US" sz="4000" err="1">
                <a:ea typeface="+mn-lt"/>
                <a:cs typeface="+mn-lt"/>
              </a:rPr>
              <a:t>louvain</a:t>
            </a:r>
            <a:r>
              <a:rPr lang="en-US" sz="4000">
                <a:ea typeface="+mn-lt"/>
                <a:cs typeface="+mn-lt"/>
              </a:rPr>
              <a:t> community detection.</a:t>
            </a:r>
          </a:p>
          <a:p>
            <a:pPr marL="0" indent="0">
              <a:buNone/>
            </a:pPr>
            <a:r>
              <a:rPr lang="en-US" sz="4000">
                <a:ea typeface="+mn-lt"/>
                <a:cs typeface="+mn-lt"/>
              </a:rPr>
              <a:t>6) Examine degree distribution of the networks </a:t>
            </a:r>
          </a:p>
          <a:p>
            <a:pPr marL="0" indent="0">
              <a:buNone/>
            </a:pPr>
            <a:r>
              <a:rPr lang="en-US" sz="4000">
                <a:ea typeface="+mn-lt"/>
                <a:cs typeface="+mn-lt"/>
              </a:rPr>
              <a:t>7) Visualize graphs</a:t>
            </a:r>
          </a:p>
          <a:p>
            <a:pPr marL="0" indent="0">
              <a:buNone/>
            </a:pPr>
            <a:endParaRPr lang="en-US" sz="4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4000" b="1">
                <a:ea typeface="+mn-lt"/>
                <a:cs typeface="+mn-lt"/>
              </a:rPr>
              <a:t>Text analysis</a:t>
            </a:r>
          </a:p>
          <a:p>
            <a:pPr marL="0" indent="0">
              <a:buNone/>
            </a:pPr>
            <a:r>
              <a:rPr lang="en-US" sz="4000">
                <a:ea typeface="+mn-lt"/>
                <a:cs typeface="+mn-lt"/>
              </a:rPr>
              <a:t>8) Examine the difference in language in the descriptions of positive and negative networks. </a:t>
            </a:r>
          </a:p>
          <a:p>
            <a:pPr marL="0" indent="0">
              <a:buNone/>
            </a:pPr>
            <a:r>
              <a:rPr lang="en-US" sz="4000">
                <a:ea typeface="+mn-lt"/>
                <a:cs typeface="+mn-lt"/>
              </a:rPr>
              <a:t>9) Extract the most common tokens</a:t>
            </a:r>
          </a:p>
          <a:p>
            <a:pPr marL="0" indent="0">
              <a:buNone/>
            </a:pPr>
            <a:endParaRPr lang="en-US" sz="4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4000" b="1">
                <a:ea typeface="+mn-lt"/>
                <a:cs typeface="+mn-lt"/>
              </a:rPr>
              <a:t>Topic Analysis</a:t>
            </a:r>
          </a:p>
          <a:p>
            <a:pPr marL="0" indent="0">
              <a:buNone/>
            </a:pPr>
            <a:r>
              <a:rPr lang="en-US" sz="4000">
                <a:ea typeface="+mn-lt"/>
                <a:cs typeface="+mn-lt"/>
              </a:rPr>
              <a:t>10) Extract topics using TF-IDF</a:t>
            </a:r>
          </a:p>
          <a:p>
            <a:pPr marL="0" indent="0">
              <a:buNone/>
            </a:pPr>
            <a:r>
              <a:rPr lang="en-US" sz="4000">
                <a:ea typeface="+mn-lt"/>
                <a:cs typeface="+mn-lt"/>
              </a:rPr>
              <a:t>11) Visualize the most common topics</a:t>
            </a:r>
          </a:p>
          <a:p>
            <a:pPr marL="0" indent="0">
              <a:buNone/>
            </a:pPr>
            <a:endParaRPr lang="en-US" sz="4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4000" b="1">
                <a:ea typeface="+mn-lt"/>
                <a:cs typeface="+mn-lt"/>
              </a:rPr>
              <a:t>MAYBE:</a:t>
            </a:r>
          </a:p>
          <a:p>
            <a:pPr marL="0" indent="0">
              <a:buNone/>
            </a:pPr>
            <a:r>
              <a:rPr lang="en-US" sz="4000">
                <a:ea typeface="+mn-lt"/>
                <a:cs typeface="+mn-lt"/>
              </a:rPr>
              <a:t>- Analyze the networks over time (since the network contains the </a:t>
            </a:r>
            <a:r>
              <a:rPr lang="en-US" sz="4000" err="1">
                <a:ea typeface="+mn-lt"/>
                <a:cs typeface="+mn-lt"/>
              </a:rPr>
              <a:t>time_stamps</a:t>
            </a:r>
            <a:r>
              <a:rPr lang="en-US" sz="4000">
                <a:ea typeface="+mn-lt"/>
                <a:cs typeface="+mn-lt"/>
              </a:rPr>
              <a:t>)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8FE349B9-C5F7-6EEE-2043-9CBCEC0DD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" r="2628"/>
          <a:stretch/>
        </p:blipFill>
        <p:spPr>
          <a:xfrm>
            <a:off x="6693877" y="1729717"/>
            <a:ext cx="4925630" cy="511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04257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ontor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PresentationFormat>Widescreen</PresentationFormat>
  <Paragraphs>80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Kontortema</vt:lpstr>
      <vt:lpstr>Subreddit Hyperlink Network Analysis</vt:lpstr>
      <vt:lpstr>The central idea and why is this interesting</vt:lpstr>
      <vt:lpstr>We explore our idea by combining the Reddit Hyperlink Network and the reddit subreddits dataset</vt:lpstr>
      <vt:lpstr>How did we download the data</vt:lpstr>
      <vt:lpstr>Goal</vt:lpstr>
      <vt:lpstr>Implementation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William Kento Rasmussen</cp:lastModifiedBy>
  <cp:revision>7</cp:revision>
  <dcterms:created xsi:type="dcterms:W3CDTF">2026-04-22T07:23:45Z</dcterms:created>
  <dcterms:modified xsi:type="dcterms:W3CDTF">2026-04-27T18:55:28Z</dcterms:modified>
</cp:coreProperties>
</file>